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2.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 id="2147485202" r:id="rId5"/>
  </p:sldMasterIdLst>
  <p:notesMasterIdLst>
    <p:notesMasterId r:id="rId7"/>
  </p:notesMasterIdLst>
  <p:handoutMasterIdLst>
    <p:handoutMasterId r:id="rId8"/>
  </p:handoutMasterIdLst>
  <p:sldIdLst>
    <p:sldId id="338" r:id="rId6"/>
  </p:sldIdLst>
  <p:sldSz cx="12192000" cy="6858000"/>
  <p:notesSz cx="6950075" cy="9236075"/>
  <p:custShowLst>
    <p:custShow name="Format Guide Workshop" id="0">
      <p:sldLst/>
    </p:custShow>
  </p:custShowLst>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63" d="100"/>
          <a:sy n="63" d="100"/>
        </p:scale>
        <p:origin x="728" y="56"/>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tags" Target="tags/tag1.xml"/><Relationship Id="rId14"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ramon\Downloads\Campaign_Data_Week1_new.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ramon\Downloads\Campaign_Data_Week1_new.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ramon\Downloads\Campaign_Data_Week1_new.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[Campaign_Data_Week1_new.xlsx]Campaign+Channel!PivotTable4</c:name>
    <c:fmtId val="10"/>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it-IT"/>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it-IT"/>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it-IT"/>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it-IT"/>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it-IT"/>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it-IT"/>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'Campaign+Channel'!$B$3:$B$4</c:f>
              <c:strCache>
                <c:ptCount val="1"/>
                <c:pt idx="0">
                  <c:v>Existing</c:v>
                </c:pt>
              </c:strCache>
            </c:strRef>
          </c:tx>
          <c:spPr>
            <a:solidFill>
              <a:schemeClr val="accent1"/>
            </a:solidFill>
            <a:ln>
              <a:noFill/>
            </a:ln>
            <a:effectLst/>
          </c:spPr>
          <c:invertIfNegative val="0"/>
          <c:cat>
            <c:multiLvlStrRef>
              <c:f>'Campaign+Channel'!$A$5:$A$13</c:f>
              <c:multiLvlStrCache>
                <c:ptCount val="6"/>
                <c:lvl>
                  <c:pt idx="0">
                    <c:v>Email</c:v>
                  </c:pt>
                  <c:pt idx="1">
                    <c:v>Instagram</c:v>
                  </c:pt>
                  <c:pt idx="2">
                    <c:v>Web Banner</c:v>
                  </c:pt>
                  <c:pt idx="3">
                    <c:v>Email</c:v>
                  </c:pt>
                  <c:pt idx="4">
                    <c:v>Instagram</c:v>
                  </c:pt>
                  <c:pt idx="5">
                    <c:v>Web Banner</c:v>
                  </c:pt>
                </c:lvl>
                <c:lvl>
                  <c:pt idx="0">
                    <c:v>A</c:v>
                  </c:pt>
                  <c:pt idx="3">
                    <c:v>B</c:v>
                  </c:pt>
                </c:lvl>
              </c:multiLvlStrCache>
            </c:multiLvlStrRef>
          </c:cat>
          <c:val>
            <c:numRef>
              <c:f>'Campaign+Channel'!$B$5:$B$13</c:f>
              <c:numCache>
                <c:formatCode>"$"#,##0.00</c:formatCode>
                <c:ptCount val="6"/>
                <c:pt idx="0">
                  <c:v>827.9</c:v>
                </c:pt>
                <c:pt idx="1">
                  <c:v>1193.44</c:v>
                </c:pt>
                <c:pt idx="2">
                  <c:v>121.22999999999999</c:v>
                </c:pt>
                <c:pt idx="3">
                  <c:v>3574.5600000000004</c:v>
                </c:pt>
                <c:pt idx="4">
                  <c:v>1294.3699999999999</c:v>
                </c:pt>
                <c:pt idx="5">
                  <c:v>1803.6699999999998</c:v>
                </c:pt>
              </c:numCache>
            </c:numRef>
          </c:val>
          <c:extLst>
            <c:ext xmlns:c16="http://schemas.microsoft.com/office/drawing/2014/chart" uri="{C3380CC4-5D6E-409C-BE32-E72D297353CC}">
              <c16:uniqueId val="{00000000-B314-4621-899D-DBC1A2A5DC78}"/>
            </c:ext>
          </c:extLst>
        </c:ser>
        <c:ser>
          <c:idx val="1"/>
          <c:order val="1"/>
          <c:tx>
            <c:strRef>
              <c:f>'Campaign+Channel'!$C$3:$C$4</c:f>
              <c:strCache>
                <c:ptCount val="1"/>
                <c:pt idx="0">
                  <c:v>New</c:v>
                </c:pt>
              </c:strCache>
            </c:strRef>
          </c:tx>
          <c:spPr>
            <a:solidFill>
              <a:schemeClr val="accent3"/>
            </a:solidFill>
            <a:ln>
              <a:noFill/>
            </a:ln>
            <a:effectLst/>
          </c:spPr>
          <c:invertIfNegative val="0"/>
          <c:cat>
            <c:multiLvlStrRef>
              <c:f>'Campaign+Channel'!$A$5:$A$13</c:f>
              <c:multiLvlStrCache>
                <c:ptCount val="6"/>
                <c:lvl>
                  <c:pt idx="0">
                    <c:v>Email</c:v>
                  </c:pt>
                  <c:pt idx="1">
                    <c:v>Instagram</c:v>
                  </c:pt>
                  <c:pt idx="2">
                    <c:v>Web Banner</c:v>
                  </c:pt>
                  <c:pt idx="3">
                    <c:v>Email</c:v>
                  </c:pt>
                  <c:pt idx="4">
                    <c:v>Instagram</c:v>
                  </c:pt>
                  <c:pt idx="5">
                    <c:v>Web Banner</c:v>
                  </c:pt>
                </c:lvl>
                <c:lvl>
                  <c:pt idx="0">
                    <c:v>A</c:v>
                  </c:pt>
                  <c:pt idx="3">
                    <c:v>B</c:v>
                  </c:pt>
                </c:lvl>
              </c:multiLvlStrCache>
            </c:multiLvlStrRef>
          </c:cat>
          <c:val>
            <c:numRef>
              <c:f>'Campaign+Channel'!$C$5:$C$13</c:f>
              <c:numCache>
                <c:formatCode>"$"#,##0.00</c:formatCode>
                <c:ptCount val="6"/>
                <c:pt idx="0">
                  <c:v>2124.4700000000003</c:v>
                </c:pt>
                <c:pt idx="1">
                  <c:v>969.45999999999992</c:v>
                </c:pt>
                <c:pt idx="2">
                  <c:v>633.05999999999995</c:v>
                </c:pt>
                <c:pt idx="3">
                  <c:v>1382.38</c:v>
                </c:pt>
                <c:pt idx="4">
                  <c:v>416.14</c:v>
                </c:pt>
                <c:pt idx="5">
                  <c:v>318.92</c:v>
                </c:pt>
              </c:numCache>
            </c:numRef>
          </c:val>
          <c:extLst>
            <c:ext xmlns:c16="http://schemas.microsoft.com/office/drawing/2014/chart" uri="{C3380CC4-5D6E-409C-BE32-E72D297353CC}">
              <c16:uniqueId val="{00000003-B314-4621-899D-DBC1A2A5DC78}"/>
            </c:ext>
          </c:extLst>
        </c:ser>
        <c:dLbls>
          <c:showLegendKey val="0"/>
          <c:showVal val="0"/>
          <c:showCatName val="0"/>
          <c:showSerName val="0"/>
          <c:showPercent val="0"/>
          <c:showBubbleSize val="0"/>
        </c:dLbls>
        <c:gapWidth val="150"/>
        <c:overlap val="100"/>
        <c:axId val="1454683215"/>
        <c:axId val="1454677455"/>
      </c:barChart>
      <c:catAx>
        <c:axId val="14546832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it-IT"/>
          </a:p>
        </c:txPr>
        <c:crossAx val="1454677455"/>
        <c:crosses val="autoZero"/>
        <c:auto val="1"/>
        <c:lblAlgn val="ctr"/>
        <c:lblOffset val="100"/>
        <c:noMultiLvlLbl val="0"/>
      </c:catAx>
      <c:valAx>
        <c:axId val="1454677455"/>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it-IT"/>
          </a:p>
        </c:txPr>
        <c:crossAx val="1454683215"/>
        <c:crosses val="autoZero"/>
        <c:crossBetween val="between"/>
      </c:valAx>
      <c:spPr>
        <a:noFill/>
        <a:ln>
          <a:noFill/>
        </a:ln>
        <a:effectLst/>
      </c:spPr>
    </c:plotArea>
    <c:legend>
      <c:legendPos val="r"/>
      <c:layout>
        <c:manualLayout>
          <c:xMode val="edge"/>
          <c:yMode val="edge"/>
          <c:x val="0.85892605704610359"/>
          <c:y val="0.4369465979031355"/>
          <c:w val="0.11820331726119955"/>
          <c:h val="0.1261065004499963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it-I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userShapes r:id="rId4"/>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[Campaign_Data_Week1_new.xlsx]Campaign+Channel!PivotTable1</c:name>
    <c:fmtId val="16"/>
  </c:pivotSource>
  <c:chart>
    <c:title>
      <c:tx>
        <c:rich>
          <a:bodyPr rot="0" spcFirstLastPara="1" vertOverflow="ellipsis" vert="horz" wrap="square" anchor="ctr" anchorCtr="1"/>
          <a:lstStyle/>
          <a:p>
            <a:pPr>
              <a:defRPr sz="1862" b="1" i="0" u="none" strike="noStrike" kern="1200" cap="all" spc="50" baseline="0">
                <a:solidFill>
                  <a:schemeClr val="tx1">
                    <a:lumMod val="65000"/>
                    <a:lumOff val="35000"/>
                  </a:schemeClr>
                </a:solidFill>
                <a:latin typeface="+mn-lt"/>
                <a:ea typeface="+mn-ea"/>
                <a:cs typeface="+mn-cs"/>
              </a:defRPr>
            </a:pPr>
            <a:r>
              <a:rPr lang="it-IT" cap="none" dirty="0" err="1"/>
              <a:t>Campaign</a:t>
            </a:r>
            <a:endParaRPr lang="it-IT" dirty="0"/>
          </a:p>
        </c:rich>
      </c:tx>
      <c:overlay val="0"/>
      <c:spPr>
        <a:noFill/>
        <a:ln>
          <a:noFill/>
        </a:ln>
        <a:effectLst/>
      </c:spPr>
      <c:txPr>
        <a:bodyPr rot="0" spcFirstLastPara="1" vertOverflow="ellipsis" vert="horz" wrap="square" anchor="ctr" anchorCtr="1"/>
        <a:lstStyle/>
        <a:p>
          <a:pPr>
            <a:defRPr sz="1862" b="1" i="0" u="none" strike="noStrike" kern="1200" cap="all" spc="50" baseline="0">
              <a:solidFill>
                <a:schemeClr val="tx1">
                  <a:lumMod val="65000"/>
                  <a:lumOff val="35000"/>
                </a:schemeClr>
              </a:solidFill>
              <a:latin typeface="+mn-lt"/>
              <a:ea typeface="+mn-ea"/>
              <a:cs typeface="+mn-cs"/>
            </a:defRPr>
          </a:pPr>
          <a:endParaRPr lang="it-IT"/>
        </a:p>
      </c:txPr>
    </c:title>
    <c:autoTitleDeleted val="0"/>
    <c:pivotFmts>
      <c:pivotFmt>
        <c:idx val="0"/>
        <c:spPr>
          <a:solidFill>
            <a:schemeClr val="accent6"/>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it-IT"/>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it-IT"/>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it-IT"/>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a:scene3d>
            <a:camera prst="orthographicFront"/>
            <a:lightRig rig="brightRoom" dir="t"/>
          </a:scene3d>
          <a:sp3d prstMaterial="flat">
            <a:bevelT w="50800" h="101600" prst="angle"/>
            <a:contourClr>
              <a:srgbClr val="000000"/>
            </a:contourClr>
          </a:sp3d>
        </c:spPr>
      </c:pivotFmt>
      <c:pivotFmt>
        <c:idx val="4"/>
        <c:spPr>
          <a:solidFill>
            <a:schemeClr val="accent6"/>
          </a:solidFill>
          <a:ln>
            <a:noFill/>
          </a:ln>
          <a:effectLst/>
          <a:scene3d>
            <a:camera prst="orthographicFront"/>
            <a:lightRig rig="brightRoom" dir="t"/>
          </a:scene3d>
          <a:sp3d prstMaterial="flat">
            <a:bevelT w="50800" h="101600" prst="angle"/>
            <a:contourClr>
              <a:srgbClr val="000000"/>
            </a:contourClr>
          </a:sp3d>
        </c:spPr>
      </c:pivotFmt>
      <c:pivotFmt>
        <c:idx val="5"/>
        <c:spPr>
          <a:solidFill>
            <a:schemeClr val="accent6"/>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it-IT"/>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6"/>
          </a:solidFill>
          <a:ln>
            <a:noFill/>
          </a:ln>
          <a:effectLst/>
          <a:scene3d>
            <a:camera prst="orthographicFront"/>
            <a:lightRig rig="brightRoom" dir="t"/>
          </a:scene3d>
          <a:sp3d prstMaterial="flat">
            <a:bevelT w="50800" h="101600" prst="angle"/>
            <a:contourClr>
              <a:srgbClr val="000000"/>
            </a:contourClr>
          </a:sp3d>
        </c:spPr>
      </c:pivotFmt>
      <c:pivotFmt>
        <c:idx val="7"/>
        <c:spPr>
          <a:solidFill>
            <a:schemeClr val="accent6"/>
          </a:solidFill>
          <a:ln>
            <a:noFill/>
          </a:ln>
          <a:effectLst/>
          <a:scene3d>
            <a:camera prst="orthographicFront"/>
            <a:lightRig rig="brightRoom" dir="t"/>
          </a:scene3d>
          <a:sp3d prstMaterial="flat">
            <a:bevelT w="50800" h="101600" prst="angle"/>
            <a:contourClr>
              <a:srgbClr val="000000"/>
            </a:contourClr>
          </a:sp3d>
        </c:spPr>
      </c:pivotFmt>
    </c:pivotFmts>
    <c:plotArea>
      <c:layout/>
      <c:pieChart>
        <c:varyColors val="1"/>
        <c:ser>
          <c:idx val="0"/>
          <c:order val="0"/>
          <c:tx>
            <c:strRef>
              <c:f>'Campaign+Channel'!$B$28:$B$29</c:f>
              <c:strCache>
                <c:ptCount val="1"/>
                <c:pt idx="0">
                  <c:v>New</c:v>
                </c:pt>
              </c:strCache>
            </c:strRef>
          </c:tx>
          <c:dPt>
            <c:idx val="0"/>
            <c:bubble3D val="0"/>
            <c:spPr>
              <a:solidFill>
                <a:schemeClr val="accent6"/>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CC0E-45C5-8C5A-D66BE0C011F3}"/>
              </c:ext>
            </c:extLst>
          </c:dPt>
          <c:dPt>
            <c:idx val="1"/>
            <c:bubble3D val="0"/>
            <c:spPr>
              <a:solidFill>
                <a:schemeClr val="accent5"/>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CC0E-45C5-8C5A-D66BE0C011F3}"/>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it-IT"/>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'Campaign+Channel'!$A$30:$A$32</c:f>
              <c:strCache>
                <c:ptCount val="2"/>
                <c:pt idx="0">
                  <c:v>A</c:v>
                </c:pt>
                <c:pt idx="1">
                  <c:v>B</c:v>
                </c:pt>
              </c:strCache>
            </c:strRef>
          </c:cat>
          <c:val>
            <c:numRef>
              <c:f>'Campaign+Channel'!$B$30:$B$32</c:f>
              <c:numCache>
                <c:formatCode>"$"#,##0.00</c:formatCode>
                <c:ptCount val="2"/>
                <c:pt idx="0">
                  <c:v>3726.9900000000002</c:v>
                </c:pt>
                <c:pt idx="1">
                  <c:v>2117.44</c:v>
                </c:pt>
              </c:numCache>
            </c:numRef>
          </c:val>
          <c:extLst>
            <c:ext xmlns:c16="http://schemas.microsoft.com/office/drawing/2014/chart" uri="{C3380CC4-5D6E-409C-BE32-E72D297353CC}">
              <c16:uniqueId val="{00000004-CC0E-45C5-8C5A-D66BE0C011F3}"/>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6"/>
    </mc:Choice>
    <mc:Fallback>
      <c:style val="6"/>
    </mc:Fallback>
  </mc:AlternateContent>
  <c:pivotSource>
    <c:name>[Campaign_Data_Week1_new.xlsx]Campaign+Channel!PivotTable2</c:name>
    <c:fmtId val="20"/>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it-IT" b="1" dirty="0"/>
              <a:t>Channel</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it-IT"/>
        </a:p>
      </c:txPr>
    </c:title>
    <c:autoTitleDeleted val="0"/>
    <c:pivotFmts>
      <c:pivotFmt>
        <c:idx val="0"/>
        <c:spPr>
          <a:solidFill>
            <a:schemeClr val="accent4"/>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it-IT"/>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4"/>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it-IT"/>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4"/>
          </a:solidFill>
          <a:ln w="19050">
            <a:solidFill>
              <a:schemeClr val="lt1"/>
            </a:solidFill>
          </a:ln>
          <a:effectLst/>
        </c:spPr>
      </c:pivotFmt>
      <c:pivotFmt>
        <c:idx val="3"/>
        <c:spPr>
          <a:solidFill>
            <a:schemeClr val="accent4"/>
          </a:solidFill>
          <a:ln w="19050">
            <a:solidFill>
              <a:schemeClr val="lt1"/>
            </a:solidFill>
          </a:ln>
          <a:effectLst/>
        </c:spPr>
      </c:pivotFmt>
      <c:pivotFmt>
        <c:idx val="4"/>
        <c:spPr>
          <a:solidFill>
            <a:schemeClr val="accent4"/>
          </a:solidFill>
          <a:ln w="19050">
            <a:solidFill>
              <a:schemeClr val="lt1"/>
            </a:solidFill>
          </a:ln>
          <a:effectLst/>
        </c:spPr>
      </c:pivotFmt>
      <c:pivotFmt>
        <c:idx val="5"/>
        <c:spPr>
          <a:solidFill>
            <a:schemeClr val="accent4"/>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it-IT"/>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4"/>
          </a:solidFill>
          <a:ln w="19050">
            <a:solidFill>
              <a:schemeClr val="lt1"/>
            </a:solidFill>
          </a:ln>
          <a:effectLst/>
        </c:spPr>
      </c:pivotFmt>
      <c:pivotFmt>
        <c:idx val="7"/>
        <c:spPr>
          <a:solidFill>
            <a:schemeClr val="accent4"/>
          </a:solidFill>
          <a:ln w="19050">
            <a:solidFill>
              <a:schemeClr val="lt1"/>
            </a:solidFill>
          </a:ln>
          <a:effectLst/>
        </c:spPr>
      </c:pivotFmt>
      <c:pivotFmt>
        <c:idx val="8"/>
        <c:spPr>
          <a:solidFill>
            <a:schemeClr val="accent4"/>
          </a:solidFill>
          <a:ln w="19050">
            <a:solidFill>
              <a:schemeClr val="lt1"/>
            </a:solidFill>
          </a:ln>
          <a:effectLst/>
        </c:spPr>
      </c:pivotFmt>
    </c:pivotFmts>
    <c:plotArea>
      <c:layout/>
      <c:pieChart>
        <c:varyColors val="1"/>
        <c:ser>
          <c:idx val="0"/>
          <c:order val="0"/>
          <c:tx>
            <c:strRef>
              <c:f>'Campaign+Channel'!$B$37:$B$38</c:f>
              <c:strCache>
                <c:ptCount val="1"/>
                <c:pt idx="0">
                  <c:v>New</c:v>
                </c:pt>
              </c:strCache>
            </c:strRef>
          </c:tx>
          <c:dPt>
            <c:idx val="0"/>
            <c:bubble3D val="0"/>
            <c:spPr>
              <a:solidFill>
                <a:schemeClr val="accent4">
                  <a:shade val="65000"/>
                </a:schemeClr>
              </a:solidFill>
              <a:ln w="19050">
                <a:solidFill>
                  <a:schemeClr val="lt1"/>
                </a:solidFill>
              </a:ln>
              <a:effectLst/>
            </c:spPr>
            <c:extLst>
              <c:ext xmlns:c16="http://schemas.microsoft.com/office/drawing/2014/chart" uri="{C3380CC4-5D6E-409C-BE32-E72D297353CC}">
                <c16:uniqueId val="{00000001-8D18-4185-8046-A5DD1DD8A3F4}"/>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3-8D18-4185-8046-A5DD1DD8A3F4}"/>
              </c:ext>
            </c:extLst>
          </c:dPt>
          <c:dPt>
            <c:idx val="2"/>
            <c:bubble3D val="0"/>
            <c:spPr>
              <a:solidFill>
                <a:schemeClr val="accent4">
                  <a:tint val="65000"/>
                </a:schemeClr>
              </a:solidFill>
              <a:ln w="19050">
                <a:solidFill>
                  <a:schemeClr val="lt1"/>
                </a:solidFill>
              </a:ln>
              <a:effectLst/>
            </c:spPr>
            <c:extLst>
              <c:ext xmlns:c16="http://schemas.microsoft.com/office/drawing/2014/chart" uri="{C3380CC4-5D6E-409C-BE32-E72D297353CC}">
                <c16:uniqueId val="{00000005-8D18-4185-8046-A5DD1DD8A3F4}"/>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ln>
                      <a:noFill/>
                    </a:ln>
                    <a:solidFill>
                      <a:schemeClr val="bg1">
                        <a:alpha val="93000"/>
                      </a:schemeClr>
                    </a:solidFill>
                    <a:latin typeface="+mn-lt"/>
                    <a:ea typeface="+mn-ea"/>
                    <a:cs typeface="+mn-cs"/>
                  </a:defRPr>
                </a:pPr>
                <a:endParaRPr lang="it-IT"/>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'Campaign+Channel'!$A$39:$A$42</c:f>
              <c:strCache>
                <c:ptCount val="3"/>
                <c:pt idx="0">
                  <c:v>Email</c:v>
                </c:pt>
                <c:pt idx="1">
                  <c:v>Instagram</c:v>
                </c:pt>
                <c:pt idx="2">
                  <c:v>Web Banner</c:v>
                </c:pt>
              </c:strCache>
            </c:strRef>
          </c:cat>
          <c:val>
            <c:numRef>
              <c:f>'Campaign+Channel'!$B$39:$B$42</c:f>
              <c:numCache>
                <c:formatCode>"$"#,##0.00</c:formatCode>
                <c:ptCount val="3"/>
                <c:pt idx="0">
                  <c:v>3506.8500000000004</c:v>
                </c:pt>
                <c:pt idx="1">
                  <c:v>1385.6</c:v>
                </c:pt>
                <c:pt idx="2">
                  <c:v>951.98</c:v>
                </c:pt>
              </c:numCache>
            </c:numRef>
          </c:val>
          <c:extLst>
            <c:ext xmlns:c16="http://schemas.microsoft.com/office/drawing/2014/chart" uri="{C3380CC4-5D6E-409C-BE32-E72D297353CC}">
              <c16:uniqueId val="{00000006-8D18-4185-8046-A5DD1DD8A3F4}"/>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7">
  <a:schemeClr val="accent4"/>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0.84041</cdr:x>
      <cdr:y>0.35695</cdr:y>
    </cdr:from>
    <cdr:to>
      <cdr:x>1</cdr:x>
      <cdr:y>0.42446</cdr:y>
    </cdr:to>
    <cdr:sp macro="" textlink="">
      <cdr:nvSpPr>
        <cdr:cNvPr id="2" name="TextBox 1">
          <a:extLst xmlns:a="http://schemas.openxmlformats.org/drawingml/2006/main">
            <a:ext uri="{FF2B5EF4-FFF2-40B4-BE49-F238E27FC236}">
              <a16:creationId xmlns:a16="http://schemas.microsoft.com/office/drawing/2014/main" id="{C5696AA0-738F-2EB5-FD8F-C99138892307}"/>
            </a:ext>
          </a:extLst>
        </cdr:cNvPr>
        <cdr:cNvSpPr txBox="1"/>
      </cdr:nvSpPr>
      <cdr:spPr>
        <a:xfrm xmlns:a="http://schemas.openxmlformats.org/drawingml/2006/main">
          <a:off x="4200117" y="1175166"/>
          <a:ext cx="797560" cy="22225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it-IT" sz="1000" kern="1200" dirty="0"/>
            <a:t>Customer</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10/19/2025</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10/19/2025</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83.xml"/></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8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26841704"/>
      </p:ext>
    </p:extLst>
  </p:cSld>
  <p:clrMapOvr>
    <a:masterClrMapping/>
  </p:clrMapOvr>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77600164"/>
      </p:ext>
    </p:extLst>
  </p:cSld>
  <p:clrMapOvr>
    <a:masterClrMapping/>
  </p:clrMapOvr>
  <p:hf sldNum="0"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48337190"/>
      </p:ext>
    </p:extLst>
  </p:cSld>
  <p:clrMapOvr>
    <a:masterClrMapping/>
  </p:clrMapOvr>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3803933838"/>
      </p:ext>
    </p:extLst>
  </p:cSld>
  <p:clrMapOvr>
    <a:masterClrMapping/>
  </p:clrMapOvr>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46699296"/>
      </p:ext>
    </p:extLst>
  </p:cSld>
  <p:clrMapOvr>
    <a:masterClrMapping/>
  </p:clrMapOvr>
  <p:hf sldNum="0"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6" name="Copyright">
            <a:extLst>
              <a:ext uri="{FF2B5EF4-FFF2-40B4-BE49-F238E27FC236}">
                <a16:creationId xmlns:a16="http://schemas.microsoft.com/office/drawing/2014/main" id="{9F65AA5B-8060-8267-5F27-F07010ED3FD9}"/>
              </a:ext>
            </a:extLst>
          </p:cNvPr>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FooterSimple" hidden="1">
            <a:extLst>
              <a:ext uri="{FF2B5EF4-FFF2-40B4-BE49-F238E27FC236}">
                <a16:creationId xmlns:a16="http://schemas.microsoft.com/office/drawing/2014/main" id="{3DC877AB-030F-18B9-87EE-A6C98D1DCA8C}"/>
              </a:ext>
            </a:extLst>
          </p:cNvPr>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645671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Copyright">
            <a:extLst>
              <a:ext uri="{FF2B5EF4-FFF2-40B4-BE49-F238E27FC236}">
                <a16:creationId xmlns:a16="http://schemas.microsoft.com/office/drawing/2014/main" id="{DBE0C806-398E-44A8-5682-967EE9650831}"/>
              </a:ext>
            </a:extLst>
          </p:cNvPr>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a:extLst>
              <a:ext uri="{FF2B5EF4-FFF2-40B4-BE49-F238E27FC236}">
                <a16:creationId xmlns:a16="http://schemas.microsoft.com/office/drawing/2014/main" id="{BA8B5C1F-9709-A387-B17A-C022A5B6BDC7}"/>
              </a:ext>
            </a:extLst>
          </p:cNvPr>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684953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786390670"/>
      </p:ext>
    </p:extLst>
  </p:cSld>
  <p:clrMapOvr>
    <a:masterClrMapping/>
  </p:clrMapOvr>
  <p:hf sldNum="0"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70357970"/>
      </p:ext>
    </p:extLst>
  </p:cSld>
  <p:clrMapOvr>
    <a:masterClrMapping/>
  </p:clrMapOvr>
  <p:hf sldNum="0"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87615812"/>
      </p:ext>
    </p:extLst>
  </p:cSld>
  <p:clrMapOvr>
    <a:masterClrMapping/>
  </p:clrMapOvr>
  <p:hf sldNum="0"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135980689"/>
      </p:ext>
    </p:extLst>
  </p:cSld>
  <p:clrMapOvr>
    <a:masterClrMapping/>
  </p:clrMapOvr>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20701797"/>
      </p:ext>
    </p:extLst>
  </p:cSld>
  <p:clrMapOvr>
    <a:masterClrMapping/>
  </p:clrMapOvr>
  <p:hf sldNum="0"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29870388"/>
      </p:ext>
    </p:extLst>
  </p:cSld>
  <p:clrMapOvr>
    <a:masterClrMapping/>
  </p:clrMapOvr>
  <p:hf sldNum="0"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77456661"/>
      </p:ext>
    </p:extLst>
  </p:cSld>
  <p:clrMapOvr>
    <a:masterClrMapping/>
  </p:clrMapOvr>
  <p:hf sldNum="0"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2738459387"/>
      </p:ext>
    </p:extLst>
  </p:cSld>
  <p:clrMapOvr>
    <a:masterClrMapping/>
  </p:clrMapOvr>
  <p:hf sldNum="0"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7950698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18" Type="http://schemas.openxmlformats.org/officeDocument/2006/relationships/tags" Target="../tags/tag82.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17" Type="http://schemas.openxmlformats.org/officeDocument/2006/relationships/theme" Target="../theme/theme2.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20" Type="http://schemas.openxmlformats.org/officeDocument/2006/relationships/image" Target="../media/image1.emf"/><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5" Type="http://schemas.openxmlformats.org/officeDocument/2006/relationships/slideLayout" Target="../slideLayouts/slideLayout82.xml"/><Relationship Id="rId10" Type="http://schemas.openxmlformats.org/officeDocument/2006/relationships/slideLayout" Target="../slideLayouts/slideLayout77.xml"/><Relationship Id="rId19" Type="http://schemas.openxmlformats.org/officeDocument/2006/relationships/oleObject" Target="../embeddings/oleObject1.bin"/><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graphicFrame>
        <p:nvGraphicFramePr>
          <p:cNvPr id="8" name="Object 7" hidden="1">
            <a:extLst>
              <a:ext uri="{FF2B5EF4-FFF2-40B4-BE49-F238E27FC236}">
                <a16:creationId xmlns:a16="http://schemas.microsoft.com/office/drawing/2014/main" id="{BE53E0AE-BFAE-EFF4-BF53-942DDEA17948}"/>
              </a:ext>
            </a:extLst>
          </p:cNvPr>
          <p:cNvGraphicFramePr>
            <a:graphicFrameLocks noChangeAspect="1"/>
          </p:cNvGraphicFramePr>
          <p:nvPr userDrawn="1">
            <p:custDataLst>
              <p:tags r:id="rId18"/>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19" imgW="270" imgH="270" progId="TCLayout.ActiveDocument.1">
                  <p:embed/>
                </p:oleObj>
              </mc:Choice>
              <mc:Fallback>
                <p:oleObj name="think-cell Slide" r:id="rId19" imgW="270" imgH="270" progId="TCLayout.ActiveDocument.1">
                  <p:embed/>
                  <p:pic>
                    <p:nvPicPr>
                      <p:cNvPr id="8" name="Object 7" hidden="1">
                        <a:extLst>
                          <a:ext uri="{FF2B5EF4-FFF2-40B4-BE49-F238E27FC236}">
                            <a16:creationId xmlns:a16="http://schemas.microsoft.com/office/drawing/2014/main" id="{2C120BBA-D00D-A358-77B4-34300E2E9F89}"/>
                          </a:ext>
                        </a:extLst>
                      </p:cNvPr>
                      <p:cNvPicPr/>
                      <p:nvPr/>
                    </p:nvPicPr>
                    <p:blipFill>
                      <a:blip r:embed="rId20"/>
                      <a:stretch>
                        <a:fillRect/>
                      </a:stretch>
                    </p:blipFill>
                    <p:spPr>
                      <a:xfrm>
                        <a:off x="1588" y="1588"/>
                        <a:ext cx="1587" cy="1587"/>
                      </a:xfrm>
                      <a:prstGeom prst="rect">
                        <a:avLst/>
                      </a:prstGeom>
                    </p:spPr>
                  </p:pic>
                </p:oleObj>
              </mc:Fallback>
            </mc:AlternateContent>
          </a:graphicData>
        </a:graphic>
      </p:graphicFrame>
      <p:sp>
        <p:nvSpPr>
          <p:cNvPr id="9" name="TextBox 8">
            <a:extLst>
              <a:ext uri="{FF2B5EF4-FFF2-40B4-BE49-F238E27FC236}">
                <a16:creationId xmlns:a16="http://schemas.microsoft.com/office/drawing/2014/main" id="{86C966E9-7F49-1F29-9B90-76CF328D47BD}"/>
              </a:ext>
            </a:extLst>
          </p:cNvPr>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33373164"/>
      </p:ext>
    </p:extLst>
  </p:cSld>
  <p:clrMap bg1="lt1" tx1="dk1" bg2="lt2" tx2="dk2" accent1="accent1" accent2="accent2" accent3="accent3" accent4="accent4" accent5="accent5" accent6="accent6" hlink="hlink" folHlink="folHlink"/>
  <p:sldLayoutIdLst>
    <p:sldLayoutId id="2147485203" r:id="rId1"/>
    <p:sldLayoutId id="2147485204" r:id="rId2"/>
    <p:sldLayoutId id="2147485205" r:id="rId3"/>
    <p:sldLayoutId id="2147485206" r:id="rId4"/>
    <p:sldLayoutId id="2147485207" r:id="rId5"/>
    <p:sldLayoutId id="2147485208" r:id="rId6"/>
    <p:sldLayoutId id="2147485209" r:id="rId7"/>
    <p:sldLayoutId id="2147485210" r:id="rId8"/>
    <p:sldLayoutId id="2147485211" r:id="rId9"/>
    <p:sldLayoutId id="2147485212" r:id="rId10"/>
    <p:sldLayoutId id="2147485213" r:id="rId11"/>
    <p:sldLayoutId id="2147485214" r:id="rId12"/>
    <p:sldLayoutId id="2147485215" r:id="rId13"/>
    <p:sldLayoutId id="2147485216" r:id="rId14"/>
    <p:sldLayoutId id="2147485217" r:id="rId15"/>
    <p:sldLayoutId id="2147485218" r:id="rId16"/>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7.xml"/><Relationship Id="rId7" Type="http://schemas.openxmlformats.org/officeDocument/2006/relationships/oleObject" Target="../embeddings/oleObject17.bin"/><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image" Target="../media/image10.emf"/><Relationship Id="rId11" Type="http://schemas.openxmlformats.org/officeDocument/2006/relationships/chart" Target="../charts/chart3.xml"/><Relationship Id="rId5" Type="http://schemas.openxmlformats.org/officeDocument/2006/relationships/oleObject" Target="../embeddings/oleObject16.bin"/><Relationship Id="rId10" Type="http://schemas.openxmlformats.org/officeDocument/2006/relationships/chart" Target="../charts/chart2.xml"/><Relationship Id="rId4" Type="http://schemas.openxmlformats.org/officeDocument/2006/relationships/slideLayout" Target="../slideLayouts/slideLayout73.xml"/><Relationship Id="rId9"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495571" y="224248"/>
            <a:ext cx="10933200" cy="387798"/>
          </a:xfrm>
        </p:spPr>
        <p:txBody>
          <a:bodyPr anchor="t">
            <a:normAutofit fontScale="90000"/>
          </a:bodyPr>
          <a:lstStyle/>
          <a:p>
            <a:r>
              <a:rPr lang="en-US" sz="2800" b="1" dirty="0"/>
              <a:t>More new customers from style A via Email</a:t>
            </a:r>
          </a:p>
        </p:txBody>
      </p:sp>
      <p:sp>
        <p:nvSpPr>
          <p:cNvPr id="2" name="Rectangle 1">
            <a:extLst>
              <a:ext uri="{FF2B5EF4-FFF2-40B4-BE49-F238E27FC236}">
                <a16:creationId xmlns:a16="http://schemas.microsoft.com/office/drawing/2014/main" id="{477E036F-AF50-32A5-AA87-4A97F3F6A88D}"/>
              </a:ext>
            </a:extLst>
          </p:cNvPr>
          <p:cNvSpPr/>
          <p:nvPr/>
        </p:nvSpPr>
        <p:spPr>
          <a:xfrm>
            <a:off x="777400" y="5445216"/>
            <a:ext cx="10933200" cy="1188536"/>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a:solidFill>
                  <a:srgbClr val="000000"/>
                </a:solidFill>
              </a:rPr>
              <a:t>Recommendation:</a:t>
            </a:r>
            <a:r>
              <a:rPr lang="en-US" b="1" dirty="0">
                <a:solidFill>
                  <a:schemeClr val="tx1"/>
                </a:solidFill>
              </a:rPr>
              <a:t> </a:t>
            </a:r>
            <a:r>
              <a:rPr lang="en-US" dirty="0">
                <a:solidFill>
                  <a:schemeClr val="tx1"/>
                </a:solidFill>
              </a:rPr>
              <a:t>To attract new customers </a:t>
            </a:r>
            <a:r>
              <a:rPr lang="en-US" dirty="0" err="1">
                <a:solidFill>
                  <a:schemeClr val="tx1"/>
                </a:solidFill>
              </a:rPr>
              <a:t>priotize</a:t>
            </a:r>
            <a:r>
              <a:rPr lang="en-US" dirty="0">
                <a:solidFill>
                  <a:schemeClr val="tx1"/>
                </a:solidFill>
              </a:rPr>
              <a:t> Email and campaign A. </a:t>
            </a:r>
            <a:br>
              <a:rPr lang="en-US" dirty="0">
                <a:solidFill>
                  <a:schemeClr val="tx1"/>
                </a:solidFill>
              </a:rPr>
            </a:br>
            <a:br>
              <a:rPr lang="en-US" dirty="0">
                <a:solidFill>
                  <a:schemeClr val="tx1"/>
                </a:solidFill>
              </a:rPr>
            </a:br>
            <a:r>
              <a:rPr lang="en-US" sz="1600" dirty="0">
                <a:solidFill>
                  <a:schemeClr val="tx1"/>
                </a:solidFill>
              </a:rPr>
              <a:t>The campaign A, which worked better for existing customers, could be used in a second phase of the campaign, after increasing new customer acquisition, suggesting a two-step campaign strategy.</a:t>
            </a:r>
          </a:p>
        </p:txBody>
      </p:sp>
      <p:sp>
        <p:nvSpPr>
          <p:cNvPr id="8" name="Rectangle 7">
            <a:extLst>
              <a:ext uri="{FF2B5EF4-FFF2-40B4-BE49-F238E27FC236}">
                <a16:creationId xmlns:a16="http://schemas.microsoft.com/office/drawing/2014/main" id="{942B0D30-68D6-1748-728E-7FA73A5976EC}"/>
              </a:ext>
            </a:extLst>
          </p:cNvPr>
          <p:cNvSpPr/>
          <p:nvPr/>
        </p:nvSpPr>
        <p:spPr>
          <a:xfrm>
            <a:off x="792939" y="917015"/>
            <a:ext cx="4699368" cy="646331"/>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solidFill>
                  <a:srgbClr val="21BF61"/>
                </a:solidFill>
              </a:rPr>
              <a:t>Top-</a:t>
            </a:r>
            <a:r>
              <a:rPr lang="en-US" b="1" dirty="0" err="1">
                <a:solidFill>
                  <a:srgbClr val="21BF61"/>
                </a:solidFill>
              </a:rPr>
              <a:t>perfomers</a:t>
            </a:r>
            <a:r>
              <a:rPr lang="en-US" b="1" dirty="0">
                <a:solidFill>
                  <a:srgbClr val="21BF61"/>
                </a:solidFill>
              </a:rPr>
              <a:t> by total sales: Campaign A and Email </a:t>
            </a: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495571" y="1563346"/>
            <a:ext cx="5298837" cy="3703036"/>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6109686" y="1487455"/>
            <a:ext cx="5773837" cy="3778927"/>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7390289" y="896087"/>
            <a:ext cx="2328814" cy="400110"/>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solidFill>
                  <a:srgbClr val="21BF61"/>
                </a:solidFill>
              </a:rPr>
              <a:t>Overall view</a:t>
            </a:r>
          </a:p>
        </p:txBody>
      </p:sp>
      <p:graphicFrame>
        <p:nvGraphicFramePr>
          <p:cNvPr id="10" name="Chart 9">
            <a:extLst>
              <a:ext uri="{FF2B5EF4-FFF2-40B4-BE49-F238E27FC236}">
                <a16:creationId xmlns:a16="http://schemas.microsoft.com/office/drawing/2014/main" id="{84E1B6FD-8D72-7DDA-A871-9B71E4336BEE}"/>
              </a:ext>
            </a:extLst>
          </p:cNvPr>
          <p:cNvGraphicFramePr>
            <a:graphicFrameLocks/>
          </p:cNvGraphicFramePr>
          <p:nvPr>
            <p:extLst>
              <p:ext uri="{D42A27DB-BD31-4B8C-83A1-F6EECF244321}">
                <p14:modId xmlns:p14="http://schemas.microsoft.com/office/powerpoint/2010/main" val="4015262866"/>
              </p:ext>
            </p:extLst>
          </p:nvPr>
        </p:nvGraphicFramePr>
        <p:xfrm>
          <a:off x="6244000" y="1487455"/>
          <a:ext cx="5639523" cy="3778927"/>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1" name="Chart 10">
            <a:extLst>
              <a:ext uri="{FF2B5EF4-FFF2-40B4-BE49-F238E27FC236}">
                <a16:creationId xmlns:a16="http://schemas.microsoft.com/office/drawing/2014/main" id="{7764EB80-57C0-5727-6005-15E4F058EEB8}"/>
              </a:ext>
            </a:extLst>
          </p:cNvPr>
          <p:cNvGraphicFramePr>
            <a:graphicFrameLocks/>
          </p:cNvGraphicFramePr>
          <p:nvPr>
            <p:extLst>
              <p:ext uri="{D42A27DB-BD31-4B8C-83A1-F6EECF244321}">
                <p14:modId xmlns:p14="http://schemas.microsoft.com/office/powerpoint/2010/main" val="2039716525"/>
              </p:ext>
            </p:extLst>
          </p:nvPr>
        </p:nvGraphicFramePr>
        <p:xfrm>
          <a:off x="175560" y="1563346"/>
          <a:ext cx="2665470" cy="1893504"/>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2" name="Chart 11">
            <a:extLst>
              <a:ext uri="{FF2B5EF4-FFF2-40B4-BE49-F238E27FC236}">
                <a16:creationId xmlns:a16="http://schemas.microsoft.com/office/drawing/2014/main" id="{6AD2FA52-B8F6-03F5-E71A-53E9D703FA87}"/>
              </a:ext>
            </a:extLst>
          </p:cNvPr>
          <p:cNvGraphicFramePr>
            <a:graphicFrameLocks/>
          </p:cNvGraphicFramePr>
          <p:nvPr>
            <p:extLst>
              <p:ext uri="{D42A27DB-BD31-4B8C-83A1-F6EECF244321}">
                <p14:modId xmlns:p14="http://schemas.microsoft.com/office/powerpoint/2010/main" val="1699044446"/>
              </p:ext>
            </p:extLst>
          </p:nvPr>
        </p:nvGraphicFramePr>
        <p:xfrm>
          <a:off x="2521018" y="2746998"/>
          <a:ext cx="3273389" cy="2519384"/>
        </p:xfrm>
        <a:graphic>
          <a:graphicData uri="http://schemas.openxmlformats.org/drawingml/2006/chart">
            <c:chart xmlns:c="http://schemas.openxmlformats.org/drawingml/2006/chart" xmlns:r="http://schemas.openxmlformats.org/officeDocument/2006/relationships" r:id="rId11"/>
          </a:graphicData>
        </a:graphic>
      </p:graphicFrame>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0D9CDD6-302A-4910-894A-79BA7510E5E5}">
  <ds:schemaRefs>
    <ds:schemaRef ds:uri="http://schemas.microsoft.com/sharepoint/v3/contenttype/forms"/>
  </ds:schemaRefs>
</ds:datastoreItem>
</file>

<file path=customXml/itemProps2.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3.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BCG Grid 16:9</Template>
  <TotalTime>160</TotalTime>
  <Words>70</Words>
  <Application>Microsoft Office PowerPoint</Application>
  <PresentationFormat>Widescreen</PresentationFormat>
  <Paragraphs>7</Paragraphs>
  <Slides>1</Slides>
  <Notes>0</Notes>
  <HiddenSlides>0</HiddenSlides>
  <MMClips>0</MMClips>
  <ScaleCrop>false</ScaleCrop>
  <HeadingPairs>
    <vt:vector size="10"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8" baseType="lpstr">
      <vt:lpstr>Arial</vt:lpstr>
      <vt:lpstr>Trebuchet MS</vt:lpstr>
      <vt:lpstr>Wingdings 3</vt:lpstr>
      <vt:lpstr>BCG Grid 16:9</vt:lpstr>
      <vt:lpstr>Facet</vt:lpstr>
      <vt:lpstr>think-cell Slide</vt:lpstr>
      <vt:lpstr>More new customers from style A via Email</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Ciumau Ramona Daniela</cp:lastModifiedBy>
  <cp:revision>14</cp:revision>
  <cp:lastPrinted>2016-04-06T18:59:25Z</cp:lastPrinted>
  <dcterms:created xsi:type="dcterms:W3CDTF">2025-04-28T17:07:03Z</dcterms:created>
  <dcterms:modified xsi:type="dcterms:W3CDTF">2025-10-19T12:15:47Z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